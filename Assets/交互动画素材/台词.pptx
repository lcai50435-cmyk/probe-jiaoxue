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DBED871-96D6-E848-AE20-EDF120C0B226}">
          <p14:sldIdLst>
            <p14:sldId id="256"/>
            <p14:sldId id="257"/>
          </p14:sldIdLst>
        </p14:section>
        <p14:section name="M2 轨头顶面探测" id="{A2686FB1-DACD-DB4D-A907-71350A8799AA}">
          <p14:sldIdLst>
            <p14:sldId id="258"/>
            <p14:sldId id="259"/>
            <p14:sldId id="260"/>
            <p14:sldId id="261"/>
            <p14:sldId id="262"/>
          </p14:sldIdLst>
        </p14:section>
        <p14:section name="M3 轨头侧面探测" id="{7ADBB930-39E1-864C-B47D-8A0287C53BC0}">
          <p14:sldIdLst>
            <p14:sldId id="263"/>
            <p14:sldId id="264"/>
            <p14:sldId id="265"/>
            <p14:sldId id="266"/>
          </p14:sldIdLst>
        </p14:section>
        <p14:section name="M4 轨腰部位探测" id="{1391A4A9-1542-C749-A4AE-2B5667BC7FEB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631"/>
  </p:normalViewPr>
  <p:slideViewPr>
    <p:cSldViewPr snapToGrid="0">
      <p:cViewPr varScale="1">
        <p:scale>
          <a:sx n="120" d="100"/>
          <a:sy n="120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1CCAA-1058-8345-87E3-196141EDE654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9AE05-409C-9149-9542-5BB22CEBAE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3101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9AE05-409C-9149-9542-5BB22CEBAE6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4759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B7EA8-3250-F9C6-DA67-6369252E1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FF48A7-74BC-596D-0D3B-855D79811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A0B80A-6F22-E67D-43B4-A70B8C12A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CABBD3-4134-5661-C5E0-A9674C4D6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886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BC9F-DD4E-AAA8-3A76-A919F046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DBD329-4A5E-281E-4859-ACE77233A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358401-0353-8A18-3F32-3F865D5E3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867CF-CCE3-B4C7-F1A2-D3603B1EA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47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F9E1F-F5B2-4857-0717-AC345989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71559-CD59-682F-7FA0-3A38C9CA7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0BDF0A-CB99-E8CE-4C7C-1E25554BB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013E11-1261-9DB9-0F99-92B6485A2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36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D55B7-B0AB-D630-D4AE-CD4D0EBF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47D1D3-9C09-21B7-3C1E-02E98721F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3D30E3-FE04-056C-E2ED-6598781DB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2DEDF4-8735-66CF-5148-C48C4BFB1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309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5ACA-0490-EC74-8EC8-E47FB9AC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F36F07-B9CE-D957-EF0D-F107F6E83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8F78D9-B4BF-F710-F3A3-8F8DBD2AA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677CCD-1341-3DDF-20F8-9FC87F097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379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454E0-2717-8E82-D897-06444AE8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6E31AC-8953-91E5-F983-F562DEB05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691D70-58A7-D0B3-FB36-0CEDF2DDA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C5D0F2-CDA5-2797-B24C-8522DC65C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661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DC63-326D-8080-D069-766EF5DA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C29DA4-9709-F475-0C65-ADB62078E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5AD555-5247-CE60-55B3-6A09CB4BB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041197-5F63-0B43-A01B-94190D2E8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222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8BA0A-66CA-0912-AE38-FDBB6405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DFAB66-157C-FB26-A0CF-10002D2BC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0636BE-745A-A6B5-14A5-383223837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F49A4-71C9-E486-C81F-C386EDEBF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636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A7C8-0BA9-DB4D-C07B-B8FE267A9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502F75-08F0-497E-314F-2B1E0F270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938AAF-DD80-0B5A-03FB-68E33AAEA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C5829D-7205-5E95-90C1-C83685832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775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DC61-CE28-F7B5-4951-9015CFA2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48ABD8-A3B7-70B9-6804-400310EF6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F79686-8392-C4C5-7EB4-EF6931492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1266CB-04D1-B10D-2B46-D44E6623A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D9AE05-409C-9149-9542-5BB22CEBAE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787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2E4DB-7448-2FEC-C67E-177980FDA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30FB62-6AE0-A98F-D3D2-3AC45DB14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2ED53-6865-D6A1-F47A-6762408E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C7EF95-BBBE-ACBD-7D4E-8A33D328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7D0DC-AEBF-A7C8-96A9-78174F5B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906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E030E-C6E4-E6B8-6F7A-8EF1DC35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AD961-C6BB-AAFE-C690-47F12C06D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E6B543-3011-A70B-37CF-0CCDC0C2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8B538-2813-D3E6-8D6F-E3048ADA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92206-7F3C-F76E-6B94-67FD57DF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83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4F400-1D83-4855-7F0A-53BAEE833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261760-A96C-5AAD-EA1E-A60359C9B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DF43AA-EFF9-5734-81B3-FCCA50CDB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EFB216-860D-7FB1-3007-29E70A02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27EE74-6E4E-85ED-CD88-5B00D3CA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959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7636C-655F-CF5E-4870-3E3D0DC0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0F1B81-A295-C8CD-1766-EE13D1E20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C94ABA-0493-11B5-4ADC-241C9DA42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378EF8-F472-9069-B196-7CB6A093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D01E5D-0806-E9D8-A92F-09FFCEAD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66B50E-113E-0E38-D15C-66A719ED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091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70CFF-A8DC-E44D-FDF1-85C3C94F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112563-9CCA-9FC3-0FC8-920244834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03580A-D28E-B7EE-ACB4-B3AFFB86C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E1082D-B77B-9347-51D5-E415BA714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33EAA3-B2B5-D084-F32F-0F87988F1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F34892-D2F6-7A4A-5E2D-179D21F9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38352F-F2BF-EDE6-80E5-18D62A71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F45EC2-E372-A8A6-7ACB-6AA86D6A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132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48AA5-DEEB-7F3E-09F9-42A48046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53CDDF-C314-515D-01B0-8ABF01FC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03FF95-2D6A-6876-6426-8EEF60F4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F3E581-BED3-76F5-6C17-28C9017C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646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F6985C-9E27-A9A4-FA21-D038DB8BE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664355-60BD-CEE9-0969-19259009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7BDF9-556F-6AF8-EA31-C499D5EA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280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F7F3D-7E86-3858-E271-EB270547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CA84E4-4ED0-7CE5-3864-606D7267E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892D81-7725-61C1-6ED9-8EEBAFEDD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34ABFC-979F-FF8A-FF3B-12A03F21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33494E-E16D-E580-B101-11B957C1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AFC709-A785-A301-E3AF-3D557162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33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57068-937A-0E31-A74F-AF8F20C7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94644A-3917-4BD2-BC37-D1E52DA06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02015C-181F-371C-FD08-90E55F97E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E3701F-A0E0-E8DC-2389-B7D4DD04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A7EEB2-27F3-79E0-AB21-B042344C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A3A6F4-CD1A-872B-1ED6-B8D3685A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91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E4C82-EFA2-6526-BC7D-D090B2C2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7E36CA-A703-F9E6-BC9D-5C2597080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4E808-9264-8F9F-EF62-F016DB1B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007AE-E0AD-F9FB-C36F-5D80CC5A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041884-E3B6-ECDA-B330-6CB5B7AB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114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96BF70-DB4C-4236-4B44-DE0FD5C0A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02251B-C57F-2F5A-3C06-9AE51063A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A164B-39AF-3DF7-39F8-64B38ECA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5144DB-2E99-0038-8838-7F2F5E678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F0806-7B7D-7C4D-A6E8-55FBA3E7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303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8C1724-AA96-1C4D-C0FF-6C474062A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9B5B88-4CAB-5237-88EF-8F9BD87C0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93550B-1838-BC75-8B40-99FBA0262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4D347-133D-E240-BB28-7A6D5D017AD8}" type="datetimeFigureOut">
              <a:rPr kumimoji="1" lang="zh-CN" altLang="en-US" smtClean="0"/>
              <a:t>2026/8/21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C04F6-AF57-E24C-BA25-8787791E4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E93A8-4850-64BA-93F9-79A10986A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6F84B-098C-A34C-B5C3-03978C9D31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436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04120B3-9353-E557-7A70-BBBB3E370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66" y="303883"/>
            <a:ext cx="5504793" cy="31251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1ABA5F-EAE2-1BD1-D782-F5A1BB5E6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66" y="3552497"/>
            <a:ext cx="5504793" cy="30141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FC97D4-B30C-F181-74CF-E23A6EBA7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3883"/>
            <a:ext cx="5723777" cy="3128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80FB1A-DFA0-442E-44E8-B2AF9C5FD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843" y="3878318"/>
            <a:ext cx="2065120" cy="18250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6A34BD-75F3-0BEB-F821-879C29AD2193}"/>
              </a:ext>
            </a:extLst>
          </p:cNvPr>
          <p:cNvSpPr txBox="1"/>
          <p:nvPr/>
        </p:nvSpPr>
        <p:spPr>
          <a:xfrm>
            <a:off x="8507963" y="4283025"/>
            <a:ext cx="28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以上对话框都替换成左侧气泡。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D343B9-4637-EFF9-1DDD-4BCC6BEAB19D}"/>
              </a:ext>
            </a:extLst>
          </p:cNvPr>
          <p:cNvSpPr txBox="1"/>
          <p:nvPr/>
        </p:nvSpPr>
        <p:spPr>
          <a:xfrm>
            <a:off x="8507962" y="5298688"/>
            <a:ext cx="28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更改的文字我都写在图片中。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496B39-B678-6158-56F4-69FFEE09E419}"/>
              </a:ext>
            </a:extLst>
          </p:cNvPr>
          <p:cNvSpPr txBox="1"/>
          <p:nvPr/>
        </p:nvSpPr>
        <p:spPr>
          <a:xfrm>
            <a:off x="2737947" y="1866441"/>
            <a:ext cx="21861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那我们开始选择探测仪器吧，有问题随时长按我哦！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210B84-D223-D746-63F8-D1976937817B}"/>
              </a:ext>
            </a:extLst>
          </p:cNvPr>
          <p:cNvSpPr txBox="1"/>
          <p:nvPr/>
        </p:nvSpPr>
        <p:spPr>
          <a:xfrm>
            <a:off x="3084792" y="4883189"/>
            <a:ext cx="1776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不对哦，要使用焊缝超声波探伤仪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E126C8-9446-D010-E281-04AD47E478F4}"/>
              </a:ext>
            </a:extLst>
          </p:cNvPr>
          <p:cNvSpPr txBox="1"/>
          <p:nvPr/>
        </p:nvSpPr>
        <p:spPr>
          <a:xfrm>
            <a:off x="9454053" y="1681775"/>
            <a:ext cx="2186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选择正确！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8D45F1-FC0C-CB16-BBC6-7C09ECBCCBE4}"/>
              </a:ext>
            </a:extLst>
          </p:cNvPr>
          <p:cNvSpPr txBox="1"/>
          <p:nvPr/>
        </p:nvSpPr>
        <p:spPr>
          <a:xfrm>
            <a:off x="7251405" y="3428999"/>
            <a:ext cx="5032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长按提问对话框保持不变。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126083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8F47-D9B7-3005-3AFD-FF6D7AA6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A7671C2-5396-ABD3-3712-C9D54FF38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37" y="237540"/>
            <a:ext cx="5661618" cy="3128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4C43E85-DAA6-782E-5D6C-F10353E68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37" y="3478926"/>
            <a:ext cx="5661618" cy="314852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F35ABF1-697D-94BC-DA7D-38EA2D8B1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7540"/>
            <a:ext cx="5649289" cy="3128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A16A714-2EA9-BE3F-02E2-B2661ABBE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843" y="3878318"/>
            <a:ext cx="2065120" cy="182507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B7A9CDB-6AC1-8C8A-3051-CBD63051563A}"/>
              </a:ext>
            </a:extLst>
          </p:cNvPr>
          <p:cNvSpPr txBox="1"/>
          <p:nvPr/>
        </p:nvSpPr>
        <p:spPr>
          <a:xfrm>
            <a:off x="8507963" y="4283025"/>
            <a:ext cx="28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以上对话框都替换成左侧气泡。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D55F98-6505-7465-4C69-A6894FC1DEB6}"/>
              </a:ext>
            </a:extLst>
          </p:cNvPr>
          <p:cNvSpPr txBox="1"/>
          <p:nvPr/>
        </p:nvSpPr>
        <p:spPr>
          <a:xfrm>
            <a:off x="8507962" y="5298688"/>
            <a:ext cx="28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更改的文字我都写在图片中。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8BFDB8-DD2D-22E0-D1B2-D00F877EBC6C}"/>
              </a:ext>
            </a:extLst>
          </p:cNvPr>
          <p:cNvSpPr txBox="1"/>
          <p:nvPr/>
        </p:nvSpPr>
        <p:spPr>
          <a:xfrm>
            <a:off x="3505207" y="4883189"/>
            <a:ext cx="13610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>
                <a:solidFill>
                  <a:srgbClr val="C00000"/>
                </a:solidFill>
              </a:rPr>
              <a:t>K2.5</a:t>
            </a:r>
            <a:r>
              <a:rPr lang="zh-CN" altLang="en-US" b="1" dirty="0">
                <a:solidFill>
                  <a:srgbClr val="C00000"/>
                </a:solidFill>
              </a:rPr>
              <a:t>探头才正确，再找找看！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835F8A-3A55-6004-1E61-79B9456346C3}"/>
              </a:ext>
            </a:extLst>
          </p:cNvPr>
          <p:cNvSpPr txBox="1"/>
          <p:nvPr/>
        </p:nvSpPr>
        <p:spPr>
          <a:xfrm>
            <a:off x="3589290" y="1690597"/>
            <a:ext cx="1277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现在选择探头吧</a:t>
            </a:r>
          </a:p>
        </p:txBody>
      </p:sp>
    </p:spTree>
    <p:extLst>
      <p:ext uri="{BB962C8B-B14F-4D97-AF65-F5344CB8AC3E}">
        <p14:creationId xmlns:p14="http://schemas.microsoft.com/office/powerpoint/2010/main" val="25655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8C06B4-8BD1-7CEA-0DC3-E497CC155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3" y="0"/>
            <a:ext cx="6051467" cy="34296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149AEF2-1114-BB7D-2ED0-BDD89921404D}"/>
              </a:ext>
            </a:extLst>
          </p:cNvPr>
          <p:cNvSpPr txBox="1"/>
          <p:nvPr/>
        </p:nvSpPr>
        <p:spPr>
          <a:xfrm>
            <a:off x="6416634" y="514520"/>
            <a:ext cx="52738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【2】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进入探测界面后，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M2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、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3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、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4【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普通视图和透视视图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】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按钮都想放在探测区域中心位置，如图，颜色不变，只调整位置即可。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1C6E20E-4989-1F66-CFFA-8C9F0C00D9A9}"/>
              </a:ext>
            </a:extLst>
          </p:cNvPr>
          <p:cNvSpPr/>
          <p:nvPr/>
        </p:nvSpPr>
        <p:spPr>
          <a:xfrm>
            <a:off x="1567542" y="2446317"/>
            <a:ext cx="581891" cy="20188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561C2AA-3C86-2F66-28B5-59C3A5920F32}"/>
              </a:ext>
            </a:extLst>
          </p:cNvPr>
          <p:cNvSpPr/>
          <p:nvPr/>
        </p:nvSpPr>
        <p:spPr>
          <a:xfrm>
            <a:off x="2149433" y="2446317"/>
            <a:ext cx="581891" cy="20188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A58A7F-7DCE-07A0-5B85-7D8CC8B42827}"/>
              </a:ext>
            </a:extLst>
          </p:cNvPr>
          <p:cNvSpPr/>
          <p:nvPr/>
        </p:nvSpPr>
        <p:spPr>
          <a:xfrm>
            <a:off x="5035138" y="2915177"/>
            <a:ext cx="914400" cy="2436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9A71215-83EC-763B-E4A0-85AAF5F05E80}"/>
              </a:ext>
            </a:extLst>
          </p:cNvPr>
          <p:cNvCxnSpPr/>
          <p:nvPr/>
        </p:nvCxnSpPr>
        <p:spPr>
          <a:xfrm>
            <a:off x="5676405" y="3158836"/>
            <a:ext cx="190005" cy="4156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4A26FE8-F3DC-98CD-5BAC-717CFAB1AB50}"/>
              </a:ext>
            </a:extLst>
          </p:cNvPr>
          <p:cNvSpPr txBox="1"/>
          <p:nvPr/>
        </p:nvSpPr>
        <p:spPr>
          <a:xfrm>
            <a:off x="4168239" y="3673358"/>
            <a:ext cx="793271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【3】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M2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、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3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、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4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、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5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中的所有步骤中的</a:t>
            </a:r>
            <a:r>
              <a:rPr kumimoji="1"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【1/4】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这些数字都可以删掉哦，改成“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步骤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1: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涂抹耦合剂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”这种格式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4F9669-842E-3CAB-4AC7-593EB3410D6E}"/>
              </a:ext>
            </a:extLst>
          </p:cNvPr>
          <p:cNvSpPr/>
          <p:nvPr/>
        </p:nvSpPr>
        <p:spPr>
          <a:xfrm>
            <a:off x="259278" y="2900225"/>
            <a:ext cx="914400" cy="2436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D577A60-563A-C794-A420-B1F349361C5C}"/>
              </a:ext>
            </a:extLst>
          </p:cNvPr>
          <p:cNvCxnSpPr>
            <a:cxnSpLocks/>
          </p:cNvCxnSpPr>
          <p:nvPr/>
        </p:nvCxnSpPr>
        <p:spPr>
          <a:xfrm>
            <a:off x="716478" y="3151413"/>
            <a:ext cx="0" cy="4468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8454726-344E-5D78-4147-6A369B826E6D}"/>
              </a:ext>
            </a:extLst>
          </p:cNvPr>
          <p:cNvSpPr/>
          <p:nvPr/>
        </p:nvSpPr>
        <p:spPr>
          <a:xfrm>
            <a:off x="233548" y="131296"/>
            <a:ext cx="1037112" cy="2436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7ABFEDB7-B039-7574-200E-050CCE62926D}"/>
              </a:ext>
            </a:extLst>
          </p:cNvPr>
          <p:cNvCxnSpPr>
            <a:cxnSpLocks/>
          </p:cNvCxnSpPr>
          <p:nvPr/>
        </p:nvCxnSpPr>
        <p:spPr>
          <a:xfrm>
            <a:off x="1270660" y="256201"/>
            <a:ext cx="69866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6A17FE7-BB1E-3AA3-3257-2BCB508E213E}"/>
              </a:ext>
            </a:extLst>
          </p:cNvPr>
          <p:cNvSpPr txBox="1"/>
          <p:nvPr/>
        </p:nvSpPr>
        <p:spPr>
          <a:xfrm>
            <a:off x="1983179" y="68997"/>
            <a:ext cx="26125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【1】</a:t>
            </a:r>
            <a:r>
              <a:rPr kumimoji="1" lang="zh-CN" altLang="en-US" sz="2000" dirty="0">
                <a:latin typeface="FangSong" panose="02010609060101010101" pitchFamily="49" charset="-122"/>
                <a:ea typeface="FangSong" panose="02010609060101010101" pitchFamily="49" charset="-122"/>
              </a:rPr>
              <a:t>模块标题中的</a:t>
            </a:r>
            <a:r>
              <a:rPr kumimoji="1" lang="en-US" altLang="zh-CN" sz="2000" dirty="0">
                <a:latin typeface="FangSong" panose="02010609060101010101" pitchFamily="49" charset="-122"/>
                <a:ea typeface="FangSong" panose="02010609060101010101" pitchFamily="49" charset="-122"/>
              </a:rPr>
              <a:t>M2/M3/M4/M5</a:t>
            </a:r>
            <a:r>
              <a:rPr kumimoji="1" lang="zh-CN" altLang="en-US" sz="2000" dirty="0">
                <a:latin typeface="FangSong" panose="02010609060101010101" pitchFamily="49" charset="-122"/>
                <a:ea typeface="FangSong" panose="02010609060101010101" pitchFamily="49" charset="-122"/>
              </a:rPr>
              <a:t>都可以删掉，只留文字就可以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3E1DCE-A32B-5E84-FE36-D21C9CDE6D73}"/>
              </a:ext>
            </a:extLst>
          </p:cNvPr>
          <p:cNvSpPr txBox="1"/>
          <p:nvPr/>
        </p:nvSpPr>
        <p:spPr>
          <a:xfrm>
            <a:off x="-1" y="3713046"/>
            <a:ext cx="320632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【4】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这个提示可以删掉，替换成数字人气泡，气泡文字为：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333B5F-0AE2-6B3F-4825-003D144D1DB5}"/>
              </a:ext>
            </a:extLst>
          </p:cNvPr>
          <p:cNvSpPr txBox="1"/>
          <p:nvPr/>
        </p:nvSpPr>
        <p:spPr>
          <a:xfrm>
            <a:off x="-1" y="5490393"/>
            <a:ext cx="10592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探测前先在所有探测面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均匀涂抹耦合剂，让超声波束更好传播</a:t>
            </a:r>
            <a:endParaRPr kumimoji="1" lang="zh-CN" altLang="en-US" sz="2800" dirty="0">
              <a:solidFill>
                <a:srgbClr val="C0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EC3B61-BB7C-A7A4-3C5F-FE8FCC3E33CD}"/>
              </a:ext>
            </a:extLst>
          </p:cNvPr>
          <p:cNvSpPr/>
          <p:nvPr/>
        </p:nvSpPr>
        <p:spPr>
          <a:xfrm>
            <a:off x="2814451" y="2903302"/>
            <a:ext cx="1037112" cy="2436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A4CF998-AA66-3415-471D-3440A59E1369}"/>
              </a:ext>
            </a:extLst>
          </p:cNvPr>
          <p:cNvCxnSpPr>
            <a:cxnSpLocks/>
          </p:cNvCxnSpPr>
          <p:nvPr/>
        </p:nvCxnSpPr>
        <p:spPr>
          <a:xfrm flipV="1">
            <a:off x="3346862" y="2468367"/>
            <a:ext cx="0" cy="4468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7ABC2E4-AF77-4D10-D858-00A17A829D60}"/>
              </a:ext>
            </a:extLst>
          </p:cNvPr>
          <p:cNvSpPr txBox="1"/>
          <p:nvPr/>
        </p:nvSpPr>
        <p:spPr>
          <a:xfrm>
            <a:off x="2337459" y="1707314"/>
            <a:ext cx="2018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【5】</a:t>
            </a:r>
            <a:r>
              <a:rPr kumimoji="1" lang="zh-CN" altLang="en-US" sz="2000" dirty="0">
                <a:latin typeface="FangSong" panose="02010609060101010101" pitchFamily="49" charset="-122"/>
                <a:ea typeface="FangSong" panose="02010609060101010101" pitchFamily="49" charset="-122"/>
              </a:rPr>
              <a:t>这个按钮可以稍居中一些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5BC4BC0-515B-65E8-D55C-D7A0DBA2D894}"/>
              </a:ext>
            </a:extLst>
          </p:cNvPr>
          <p:cNvSpPr txBox="1"/>
          <p:nvPr/>
        </p:nvSpPr>
        <p:spPr>
          <a:xfrm>
            <a:off x="-11886" y="6004814"/>
            <a:ext cx="11702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未涂抹耦合剂尝试拖拽探头则由数字人气泡提示：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还没涂抹耦合剂呢！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F2F0559-08AE-5EE2-833C-A233F06801E8}"/>
              </a:ext>
            </a:extLst>
          </p:cNvPr>
          <p:cNvSpPr/>
          <p:nvPr/>
        </p:nvSpPr>
        <p:spPr>
          <a:xfrm>
            <a:off x="233549" y="381107"/>
            <a:ext cx="1333994" cy="4389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C34A4D4-D4C3-E751-C323-269F4C5B877F}"/>
              </a:ext>
            </a:extLst>
          </p:cNvPr>
          <p:cNvSpPr txBox="1"/>
          <p:nvPr/>
        </p:nvSpPr>
        <p:spPr>
          <a:xfrm>
            <a:off x="166751" y="839531"/>
            <a:ext cx="16857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【6】</a:t>
            </a:r>
            <a:r>
              <a:rPr kumimoji="1" lang="zh-CN" altLang="en-US" sz="1600" dirty="0">
                <a:latin typeface="FangSong" panose="02010609060101010101" pitchFamily="49" charset="-122"/>
                <a:ea typeface="FangSong" panose="02010609060101010101" pitchFamily="49" charset="-122"/>
              </a:rPr>
              <a:t>这里可以在工具底部加上文字标注：</a:t>
            </a:r>
            <a:r>
              <a:rPr kumimoji="1" lang="en-US" altLang="zh-CN" sz="1600" dirty="0">
                <a:latin typeface="FangSong" panose="02010609060101010101" pitchFamily="49" charset="-122"/>
                <a:ea typeface="FangSong" panose="02010609060101010101" pitchFamily="49" charset="-122"/>
              </a:rPr>
              <a:t>K2.5</a:t>
            </a:r>
            <a:r>
              <a:rPr kumimoji="1" lang="zh-CN" altLang="en-US" sz="1600" dirty="0">
                <a:latin typeface="FangSong" panose="02010609060101010101" pitchFamily="49" charset="-122"/>
                <a:ea typeface="FangSong" panose="02010609060101010101" pitchFamily="49" charset="-122"/>
              </a:rPr>
              <a:t>探头 多功能尺</a:t>
            </a:r>
          </a:p>
        </p:txBody>
      </p:sp>
    </p:spTree>
    <p:extLst>
      <p:ext uri="{BB962C8B-B14F-4D97-AF65-F5344CB8AC3E}">
        <p14:creationId xmlns:p14="http://schemas.microsoft.com/office/powerpoint/2010/main" val="2672995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FBCF-44EA-E786-22E0-84D095A5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008482-0556-B4A4-5DEB-82D8958C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"/>
          <a:stretch>
            <a:fillRect/>
          </a:stretch>
        </p:blipFill>
        <p:spPr>
          <a:xfrm>
            <a:off x="-1" y="10510"/>
            <a:ext cx="6138385" cy="3430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65FC893-CB7B-81F4-9301-BB60B0CE1B93}"/>
              </a:ext>
            </a:extLst>
          </p:cNvPr>
          <p:cNvSpPr/>
          <p:nvPr/>
        </p:nvSpPr>
        <p:spPr>
          <a:xfrm>
            <a:off x="4971393" y="430924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B897F7D-2B1C-5C2F-BF7F-2C2AE15EFD1E}"/>
              </a:ext>
            </a:extLst>
          </p:cNvPr>
          <p:cNvCxnSpPr/>
          <p:nvPr/>
        </p:nvCxnSpPr>
        <p:spPr>
          <a:xfrm>
            <a:off x="5875283" y="101950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7F92F76-6218-DCD1-04F7-5282F28C1179}"/>
              </a:ext>
            </a:extLst>
          </p:cNvPr>
          <p:cNvSpPr txBox="1"/>
          <p:nvPr/>
        </p:nvSpPr>
        <p:spPr>
          <a:xfrm>
            <a:off x="6926316" y="430924"/>
            <a:ext cx="47641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【1】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增加数字人气泡，气泡内容：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耦合剂涂好啦！现在拿起探头，放到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轨头顶面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进行探测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85E421-FFA8-DBCA-3321-648531F88C96}"/>
              </a:ext>
            </a:extLst>
          </p:cNvPr>
          <p:cNvSpPr/>
          <p:nvPr/>
        </p:nvSpPr>
        <p:spPr>
          <a:xfrm>
            <a:off x="273269" y="2869324"/>
            <a:ext cx="1439917" cy="2627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260F04F-9BFC-3F4E-644D-1E8229766AA5}"/>
              </a:ext>
            </a:extLst>
          </p:cNvPr>
          <p:cNvCxnSpPr>
            <a:cxnSpLocks/>
          </p:cNvCxnSpPr>
          <p:nvPr/>
        </p:nvCxnSpPr>
        <p:spPr>
          <a:xfrm>
            <a:off x="987973" y="3132083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7930271-3680-783F-555F-5781E5587B05}"/>
              </a:ext>
            </a:extLst>
          </p:cNvPr>
          <p:cNvSpPr txBox="1"/>
          <p:nvPr/>
        </p:nvSpPr>
        <p:spPr>
          <a:xfrm>
            <a:off x="126123" y="3704069"/>
            <a:ext cx="117505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【2】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改成：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将探头放置在轨头顶面，用多功能尺将探头向内偏转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10°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endParaRPr kumimoji="1" lang="zh-CN" altLang="en-US" sz="2800" dirty="0">
              <a:solidFill>
                <a:srgbClr val="C0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514D9B1-D9FC-D02F-F61B-46020E2365DC}"/>
              </a:ext>
            </a:extLst>
          </p:cNvPr>
          <p:cNvSpPr/>
          <p:nvPr/>
        </p:nvSpPr>
        <p:spPr>
          <a:xfrm>
            <a:off x="4913586" y="2869324"/>
            <a:ext cx="1224798" cy="2627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BA73EC8D-BF57-9E1F-2337-A605DDA48F3D}"/>
              </a:ext>
            </a:extLst>
          </p:cNvPr>
          <p:cNvCxnSpPr/>
          <p:nvPr/>
        </p:nvCxnSpPr>
        <p:spPr>
          <a:xfrm>
            <a:off x="6138384" y="301121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3561AFE0-2C0C-2044-D087-CE1BEE87A24C}"/>
              </a:ext>
            </a:extLst>
          </p:cNvPr>
          <p:cNvSpPr txBox="1"/>
          <p:nvPr/>
        </p:nvSpPr>
        <p:spPr>
          <a:xfrm>
            <a:off x="6926316" y="2693439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【3】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步骤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2: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探头偏角</a:t>
            </a:r>
          </a:p>
        </p:txBody>
      </p:sp>
    </p:spTree>
    <p:extLst>
      <p:ext uri="{BB962C8B-B14F-4D97-AF65-F5344CB8AC3E}">
        <p14:creationId xmlns:p14="http://schemas.microsoft.com/office/powerpoint/2010/main" val="73970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E828C-EFF3-CB6B-2EE8-765439E0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0B200B-478B-2F36-8C50-6F852820A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0" y="44953"/>
            <a:ext cx="6066594" cy="3430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AB8EA86-2AF4-7825-2C5A-5E9CF9961B07}"/>
              </a:ext>
            </a:extLst>
          </p:cNvPr>
          <p:cNvSpPr/>
          <p:nvPr/>
        </p:nvSpPr>
        <p:spPr>
          <a:xfrm>
            <a:off x="5013434" y="441434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57F0E83-9537-841C-E9B3-A849EF87BB42}"/>
              </a:ext>
            </a:extLst>
          </p:cNvPr>
          <p:cNvCxnSpPr/>
          <p:nvPr/>
        </p:nvCxnSpPr>
        <p:spPr>
          <a:xfrm>
            <a:off x="5906813" y="101950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A2B35D6-093B-5D6C-CAEC-31A5AEE7497D}"/>
              </a:ext>
            </a:extLst>
          </p:cNvPr>
          <p:cNvSpPr txBox="1"/>
          <p:nvPr/>
        </p:nvSpPr>
        <p:spPr>
          <a:xfrm>
            <a:off x="6926316" y="430924"/>
            <a:ext cx="476416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角度正确！向前移动探头进行探测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DA5BDC-8FE5-AA84-C7C8-867D3111F59E}"/>
              </a:ext>
            </a:extLst>
          </p:cNvPr>
          <p:cNvSpPr/>
          <p:nvPr/>
        </p:nvSpPr>
        <p:spPr>
          <a:xfrm>
            <a:off x="273269" y="2869324"/>
            <a:ext cx="1609865" cy="346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D4E82F6-8317-47E8-AEDF-C208C0730BB0}"/>
              </a:ext>
            </a:extLst>
          </p:cNvPr>
          <p:cNvCxnSpPr>
            <a:cxnSpLocks/>
          </p:cNvCxnSpPr>
          <p:nvPr/>
        </p:nvCxnSpPr>
        <p:spPr>
          <a:xfrm>
            <a:off x="987973" y="3215907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8D5025B-48A8-415D-7163-0C2B16AAC66C}"/>
              </a:ext>
            </a:extLst>
          </p:cNvPr>
          <p:cNvSpPr txBox="1"/>
          <p:nvPr/>
        </p:nvSpPr>
        <p:spPr>
          <a:xfrm>
            <a:off x="126123" y="3704069"/>
            <a:ext cx="117505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改成：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将探头以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10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度偏角向前移动，注意观察波形变化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66D1D0-C32E-2E0C-6EF2-34DAEBCED605}"/>
              </a:ext>
            </a:extLst>
          </p:cNvPr>
          <p:cNvSpPr/>
          <p:nvPr/>
        </p:nvSpPr>
        <p:spPr>
          <a:xfrm>
            <a:off x="4934606" y="2900854"/>
            <a:ext cx="1224798" cy="2627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3317AC21-A4F1-6147-D572-826BACCCA341}"/>
              </a:ext>
            </a:extLst>
          </p:cNvPr>
          <p:cNvCxnSpPr/>
          <p:nvPr/>
        </p:nvCxnSpPr>
        <p:spPr>
          <a:xfrm>
            <a:off x="6169914" y="301121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088231C-12C0-B7B1-F7BC-1EB22CAF472D}"/>
              </a:ext>
            </a:extLst>
          </p:cNvPr>
          <p:cNvSpPr txBox="1"/>
          <p:nvPr/>
        </p:nvSpPr>
        <p:spPr>
          <a:xfrm>
            <a:off x="6926316" y="2693439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3: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移动探测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4B021B-A22B-AFEE-2ADD-176E8A34113F}"/>
              </a:ext>
            </a:extLst>
          </p:cNvPr>
          <p:cNvSpPr/>
          <p:nvPr/>
        </p:nvSpPr>
        <p:spPr>
          <a:xfrm>
            <a:off x="1904157" y="2900854"/>
            <a:ext cx="986188" cy="346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D38BBC69-3DC1-0CE6-FB55-4A58C1C81853}"/>
              </a:ext>
            </a:extLst>
          </p:cNvPr>
          <p:cNvCxnSpPr>
            <a:cxnSpLocks/>
          </p:cNvCxnSpPr>
          <p:nvPr/>
        </p:nvCxnSpPr>
        <p:spPr>
          <a:xfrm flipV="1">
            <a:off x="2391104" y="2501462"/>
            <a:ext cx="0" cy="3993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29764A6-2E20-8402-1E70-845A8F8D70D5}"/>
              </a:ext>
            </a:extLst>
          </p:cNvPr>
          <p:cNvSpPr txBox="1"/>
          <p:nvPr/>
        </p:nvSpPr>
        <p:spPr>
          <a:xfrm>
            <a:off x="1423566" y="1838546"/>
            <a:ext cx="19350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【4】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删掉</a:t>
            </a:r>
          </a:p>
        </p:txBody>
      </p:sp>
    </p:spTree>
    <p:extLst>
      <p:ext uri="{BB962C8B-B14F-4D97-AF65-F5344CB8AC3E}">
        <p14:creationId xmlns:p14="http://schemas.microsoft.com/office/powerpoint/2010/main" val="2385420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4F63-41F3-CC03-E4FC-C7EFA329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578D19D9-2E73-FF4C-57D7-8EFE4AACC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0" y="29188"/>
            <a:ext cx="6115774" cy="3430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D4EDC11-B8B6-054D-9A69-85B441E47560}"/>
              </a:ext>
            </a:extLst>
          </p:cNvPr>
          <p:cNvSpPr/>
          <p:nvPr/>
        </p:nvSpPr>
        <p:spPr>
          <a:xfrm>
            <a:off x="5013434" y="441434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88E3B4D8-FC02-7092-12F6-DFF182BCD142}"/>
              </a:ext>
            </a:extLst>
          </p:cNvPr>
          <p:cNvCxnSpPr/>
          <p:nvPr/>
        </p:nvCxnSpPr>
        <p:spPr>
          <a:xfrm>
            <a:off x="5906813" y="101950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BB6CB5-E47B-C3BB-2A9C-D6AA8DA3A5B0}"/>
              </a:ext>
            </a:extLst>
          </p:cNvPr>
          <p:cNvSpPr txBox="1"/>
          <p:nvPr/>
        </p:nvSpPr>
        <p:spPr>
          <a:xfrm>
            <a:off x="6926316" y="430924"/>
            <a:ext cx="476416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非常好，成功在轨头顶面探测到伤损了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！接下来用多功能尺确认一下具体出波位置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E7614F-1CE7-4AD0-4674-C4D962FED3EC}"/>
              </a:ext>
            </a:extLst>
          </p:cNvPr>
          <p:cNvSpPr/>
          <p:nvPr/>
        </p:nvSpPr>
        <p:spPr>
          <a:xfrm>
            <a:off x="273269" y="2869324"/>
            <a:ext cx="1609865" cy="346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EA5B65EF-52B5-F30C-A276-B7EC3FCA8315}"/>
              </a:ext>
            </a:extLst>
          </p:cNvPr>
          <p:cNvCxnSpPr>
            <a:cxnSpLocks/>
          </p:cNvCxnSpPr>
          <p:nvPr/>
        </p:nvCxnSpPr>
        <p:spPr>
          <a:xfrm>
            <a:off x="987973" y="3215907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BFCF182-1F8D-F6DB-E01B-0B7EF4C9C2C4}"/>
              </a:ext>
            </a:extLst>
          </p:cNvPr>
          <p:cNvSpPr txBox="1"/>
          <p:nvPr/>
        </p:nvSpPr>
        <p:spPr>
          <a:xfrm>
            <a:off x="126123" y="3704069"/>
            <a:ext cx="117505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改成：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将定位尺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0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刻度对准探头入射点，进行测量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3B46F6-E2BA-C108-B7AC-5A48480E4256}"/>
              </a:ext>
            </a:extLst>
          </p:cNvPr>
          <p:cNvSpPr/>
          <p:nvPr/>
        </p:nvSpPr>
        <p:spPr>
          <a:xfrm>
            <a:off x="4934606" y="2900854"/>
            <a:ext cx="1224798" cy="2627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AA24FD62-EFC7-D6F8-0321-211202A25010}"/>
              </a:ext>
            </a:extLst>
          </p:cNvPr>
          <p:cNvCxnSpPr/>
          <p:nvPr/>
        </p:nvCxnSpPr>
        <p:spPr>
          <a:xfrm>
            <a:off x="6169914" y="301121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DCDDE13-D5B0-9486-51B8-3115AE330CC5}"/>
              </a:ext>
            </a:extLst>
          </p:cNvPr>
          <p:cNvSpPr txBox="1"/>
          <p:nvPr/>
        </p:nvSpPr>
        <p:spPr>
          <a:xfrm>
            <a:off x="6926316" y="2693439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4: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测距确认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D75C42-D581-02A6-9FDC-4D998B01C287}"/>
              </a:ext>
            </a:extLst>
          </p:cNvPr>
          <p:cNvSpPr/>
          <p:nvPr/>
        </p:nvSpPr>
        <p:spPr>
          <a:xfrm>
            <a:off x="1904156" y="2900854"/>
            <a:ext cx="1454465" cy="24408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90111C49-16A2-D278-B85D-7994605E827A}"/>
              </a:ext>
            </a:extLst>
          </p:cNvPr>
          <p:cNvCxnSpPr>
            <a:cxnSpLocks/>
          </p:cNvCxnSpPr>
          <p:nvPr/>
        </p:nvCxnSpPr>
        <p:spPr>
          <a:xfrm flipV="1">
            <a:off x="2391104" y="2501462"/>
            <a:ext cx="0" cy="3993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ED698A7-1B02-A1F7-29E3-806CC7CCB9B7}"/>
              </a:ext>
            </a:extLst>
          </p:cNvPr>
          <p:cNvSpPr txBox="1"/>
          <p:nvPr/>
        </p:nvSpPr>
        <p:spPr>
          <a:xfrm>
            <a:off x="1423566" y="1838546"/>
            <a:ext cx="19350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【4】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删掉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70AC29-C355-9E2C-6560-ED779737AE13}"/>
              </a:ext>
            </a:extLst>
          </p:cNvPr>
          <p:cNvSpPr txBox="1"/>
          <p:nvPr/>
        </p:nvSpPr>
        <p:spPr>
          <a:xfrm>
            <a:off x="126123" y="4316606"/>
            <a:ext cx="1069953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【5】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测量完成后，再增加一个数字人气泡：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可以看到探头入射点距离本侧焊缝熔合线正好也是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110mm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，这就说明我们在轨头顶面利用新工艺成功捕捉到了伤损！可以点击透视视图查看超声波传播路径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9977D9-F758-6BB5-A1CC-9498E490E94F}"/>
              </a:ext>
            </a:extLst>
          </p:cNvPr>
          <p:cNvSpPr txBox="1"/>
          <p:nvPr/>
        </p:nvSpPr>
        <p:spPr>
          <a:xfrm>
            <a:off x="126123" y="6035279"/>
            <a:ext cx="746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>
                    <a:lumMod val="65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这段话有点长，可以适当分段。一段一段展示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664493F-CEF3-FAC3-0921-CDE2F1096A28}"/>
              </a:ext>
            </a:extLst>
          </p:cNvPr>
          <p:cNvCxnSpPr>
            <a:cxnSpLocks/>
          </p:cNvCxnSpPr>
          <p:nvPr/>
        </p:nvCxnSpPr>
        <p:spPr>
          <a:xfrm flipV="1">
            <a:off x="2659118" y="5732378"/>
            <a:ext cx="0" cy="3993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63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4797-08EA-1683-B611-175CE9B8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26D4778-860A-E40E-A488-B26CC3B369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5"/>
          <a:stretch>
            <a:fillRect/>
          </a:stretch>
        </p:blipFill>
        <p:spPr>
          <a:xfrm>
            <a:off x="52637" y="44953"/>
            <a:ext cx="6117277" cy="3430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DF901E0-5617-0498-FA51-F993B644F9AC}"/>
              </a:ext>
            </a:extLst>
          </p:cNvPr>
          <p:cNvSpPr/>
          <p:nvPr/>
        </p:nvSpPr>
        <p:spPr>
          <a:xfrm>
            <a:off x="5044964" y="441434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84A318F2-340A-BD16-6609-E0D35F76879F}"/>
              </a:ext>
            </a:extLst>
          </p:cNvPr>
          <p:cNvCxnSpPr/>
          <p:nvPr/>
        </p:nvCxnSpPr>
        <p:spPr>
          <a:xfrm>
            <a:off x="5906813" y="101950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1FBD4F5-FBD5-21EA-E6B1-5B087E895EC7}"/>
              </a:ext>
            </a:extLst>
          </p:cNvPr>
          <p:cNvSpPr txBox="1"/>
          <p:nvPr/>
        </p:nvSpPr>
        <p:spPr>
          <a:xfrm>
            <a:off x="6926316" y="430924"/>
            <a:ext cx="476416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用户首次点击透视视图时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看！绿色光束就是超声波束，遇到红色伤损就会中断传播发生反射！ </a:t>
            </a:r>
            <a:endParaRPr kumimoji="1" lang="zh-CN" altLang="en-US" sz="2800" dirty="0">
              <a:solidFill>
                <a:srgbClr val="C0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34D4A9-34A7-FD1C-3820-96302D1DD7F1}"/>
              </a:ext>
            </a:extLst>
          </p:cNvPr>
          <p:cNvSpPr/>
          <p:nvPr/>
        </p:nvSpPr>
        <p:spPr>
          <a:xfrm>
            <a:off x="214227" y="2881227"/>
            <a:ext cx="874486" cy="346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08D7063-9224-B607-980F-574153898102}"/>
              </a:ext>
            </a:extLst>
          </p:cNvPr>
          <p:cNvCxnSpPr>
            <a:cxnSpLocks/>
          </p:cNvCxnSpPr>
          <p:nvPr/>
        </p:nvCxnSpPr>
        <p:spPr>
          <a:xfrm>
            <a:off x="651642" y="3215907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4448602-94CD-3C61-4AE9-7F1FABBA7F02}"/>
              </a:ext>
            </a:extLst>
          </p:cNvPr>
          <p:cNvSpPr txBox="1"/>
          <p:nvPr/>
        </p:nvSpPr>
        <p:spPr>
          <a:xfrm>
            <a:off x="126123" y="3704069"/>
            <a:ext cx="214024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字体可以加粗，稍明显些，字号不用太大，颜色可以再深一些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93F163-7102-2B27-D44C-D059B869F956}"/>
              </a:ext>
            </a:extLst>
          </p:cNvPr>
          <p:cNvSpPr/>
          <p:nvPr/>
        </p:nvSpPr>
        <p:spPr>
          <a:xfrm>
            <a:off x="5255514" y="2942894"/>
            <a:ext cx="903890" cy="2627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7EE41DB8-7636-8E0D-C53A-0A1263501747}"/>
              </a:ext>
            </a:extLst>
          </p:cNvPr>
          <p:cNvCxnSpPr/>
          <p:nvPr/>
        </p:nvCxnSpPr>
        <p:spPr>
          <a:xfrm>
            <a:off x="6169914" y="3063764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77661E5-8EAF-E3A8-55AA-95B2804CA2AE}"/>
              </a:ext>
            </a:extLst>
          </p:cNvPr>
          <p:cNvSpPr txBox="1"/>
          <p:nvPr/>
        </p:nvSpPr>
        <p:spPr>
          <a:xfrm>
            <a:off x="6926316" y="2777520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删掉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2F265D-2B2E-CF0A-CCDC-FB4B3D80E045}"/>
              </a:ext>
            </a:extLst>
          </p:cNvPr>
          <p:cNvSpPr/>
          <p:nvPr/>
        </p:nvSpPr>
        <p:spPr>
          <a:xfrm>
            <a:off x="1423567" y="2900854"/>
            <a:ext cx="1077896" cy="346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964E32E4-16D8-7063-43FB-E273F1FDF801}"/>
              </a:ext>
            </a:extLst>
          </p:cNvPr>
          <p:cNvCxnSpPr>
            <a:cxnSpLocks/>
          </p:cNvCxnSpPr>
          <p:nvPr/>
        </p:nvCxnSpPr>
        <p:spPr>
          <a:xfrm flipV="1">
            <a:off x="1960183" y="2501462"/>
            <a:ext cx="0" cy="3993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689C37A-D864-8461-558A-9AAB741F4D6E}"/>
              </a:ext>
            </a:extLst>
          </p:cNvPr>
          <p:cNvSpPr txBox="1"/>
          <p:nvPr/>
        </p:nvSpPr>
        <p:spPr>
          <a:xfrm>
            <a:off x="992645" y="1915969"/>
            <a:ext cx="19350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【4】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删掉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B220A9-8232-747A-4927-4533E9007C8D}"/>
              </a:ext>
            </a:extLst>
          </p:cNvPr>
          <p:cNvSpPr/>
          <p:nvPr/>
        </p:nvSpPr>
        <p:spPr>
          <a:xfrm>
            <a:off x="4351282" y="2913992"/>
            <a:ext cx="739329" cy="346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5CF321-066D-BA37-1AE3-1C8CCAFAB09F}"/>
              </a:ext>
            </a:extLst>
          </p:cNvPr>
          <p:cNvSpPr txBox="1"/>
          <p:nvPr/>
        </p:nvSpPr>
        <p:spPr>
          <a:xfrm>
            <a:off x="2266365" y="3704069"/>
            <a:ext cx="4909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【4】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进入轨头侧面探测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6B7C59C-CA9B-9D21-34AB-0A19D29ACACC}"/>
              </a:ext>
            </a:extLst>
          </p:cNvPr>
          <p:cNvCxnSpPr>
            <a:cxnSpLocks/>
          </p:cNvCxnSpPr>
          <p:nvPr/>
        </p:nvCxnSpPr>
        <p:spPr>
          <a:xfrm>
            <a:off x="4720946" y="3260575"/>
            <a:ext cx="0" cy="3993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1CCC121-29B4-87A4-BAE3-D6EF3A1C58CE}"/>
              </a:ext>
            </a:extLst>
          </p:cNvPr>
          <p:cNvSpPr txBox="1"/>
          <p:nvPr/>
        </p:nvSpPr>
        <p:spPr>
          <a:xfrm>
            <a:off x="6679323" y="3993940"/>
            <a:ext cx="52581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【5】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点击进入轨头侧面探测吧</a:t>
            </a:r>
            <a:endParaRPr kumimoji="1" lang="zh-CN" altLang="en-US" sz="2800" dirty="0">
              <a:solidFill>
                <a:srgbClr val="C0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81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B6F6-EF8A-DEBD-FA8C-3A98D69F8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3F7617-A5E4-DABA-EF43-1761C8A3E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8" r="1"/>
          <a:stretch>
            <a:fillRect/>
          </a:stretch>
        </p:blipFill>
        <p:spPr>
          <a:xfrm>
            <a:off x="63116" y="55748"/>
            <a:ext cx="5959944" cy="3430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CA6E63F-38B9-842D-354A-F195EFEBFD8E}"/>
              </a:ext>
            </a:extLst>
          </p:cNvPr>
          <p:cNvSpPr/>
          <p:nvPr/>
        </p:nvSpPr>
        <p:spPr>
          <a:xfrm>
            <a:off x="5044964" y="536027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0FBA941-9257-F197-CB91-22A67B4F649A}"/>
              </a:ext>
            </a:extLst>
          </p:cNvPr>
          <p:cNvCxnSpPr/>
          <p:nvPr/>
        </p:nvCxnSpPr>
        <p:spPr>
          <a:xfrm>
            <a:off x="5938343" y="1019503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E604A01-3DA7-28D6-7E04-087FDD4963AD}"/>
              </a:ext>
            </a:extLst>
          </p:cNvPr>
          <p:cNvSpPr txBox="1"/>
          <p:nvPr/>
        </p:nvSpPr>
        <p:spPr>
          <a:xfrm>
            <a:off x="6926316" y="430924"/>
            <a:ext cx="476416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把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探头放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在轨头侧面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准备进行探测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FB0921-28CB-87C0-9C59-C51D1B80219A}"/>
              </a:ext>
            </a:extLst>
          </p:cNvPr>
          <p:cNvSpPr/>
          <p:nvPr/>
        </p:nvSpPr>
        <p:spPr>
          <a:xfrm>
            <a:off x="214226" y="2881228"/>
            <a:ext cx="1240219" cy="3346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437C60F-E7B8-AF03-FB6F-544A38F67961}"/>
              </a:ext>
            </a:extLst>
          </p:cNvPr>
          <p:cNvCxnSpPr>
            <a:cxnSpLocks/>
          </p:cNvCxnSpPr>
          <p:nvPr/>
        </p:nvCxnSpPr>
        <p:spPr>
          <a:xfrm>
            <a:off x="651642" y="3215907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1BDCFDE-5DBC-0376-FD20-E4129063DC4F}"/>
              </a:ext>
            </a:extLst>
          </p:cNvPr>
          <p:cNvSpPr txBox="1"/>
          <p:nvPr/>
        </p:nvSpPr>
        <p:spPr>
          <a:xfrm>
            <a:off x="126122" y="3704069"/>
            <a:ext cx="117190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改成：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将探头放在轨头侧面，利用多功能尺将探头向下偏转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13°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8D3EBE6-4040-F29D-EDD2-239FA47AB87F}"/>
              </a:ext>
            </a:extLst>
          </p:cNvPr>
          <p:cNvSpPr/>
          <p:nvPr/>
        </p:nvSpPr>
        <p:spPr>
          <a:xfrm>
            <a:off x="4698124" y="2942894"/>
            <a:ext cx="1240219" cy="273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B066B21-EBF7-47DF-4917-E008477BC857}"/>
              </a:ext>
            </a:extLst>
          </p:cNvPr>
          <p:cNvCxnSpPr/>
          <p:nvPr/>
        </p:nvCxnSpPr>
        <p:spPr>
          <a:xfrm>
            <a:off x="5928176" y="3063764"/>
            <a:ext cx="966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16C6FB2-970C-E820-E9EF-2B8BF3659CDE}"/>
              </a:ext>
            </a:extLst>
          </p:cNvPr>
          <p:cNvSpPr txBox="1"/>
          <p:nvPr/>
        </p:nvSpPr>
        <p:spPr>
          <a:xfrm>
            <a:off x="6926316" y="2777520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1: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偏角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76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082E-D14A-35DB-4967-D5A9232F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03F8595-D724-0298-A57A-DE5284F0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3"/>
          <a:stretch>
            <a:fillRect/>
          </a:stretch>
        </p:blipFill>
        <p:spPr>
          <a:xfrm>
            <a:off x="62647" y="55748"/>
            <a:ext cx="6196127" cy="3430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B902455-D0F8-E991-4DD2-9F15C9EE8B52}"/>
              </a:ext>
            </a:extLst>
          </p:cNvPr>
          <p:cNvSpPr/>
          <p:nvPr/>
        </p:nvSpPr>
        <p:spPr>
          <a:xfrm>
            <a:off x="5236710" y="544322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1316B640-4012-1E43-3925-C5C7AC96AF75}"/>
              </a:ext>
            </a:extLst>
          </p:cNvPr>
          <p:cNvCxnSpPr>
            <a:cxnSpLocks/>
          </p:cNvCxnSpPr>
          <p:nvPr/>
        </p:nvCxnSpPr>
        <p:spPr>
          <a:xfrm>
            <a:off x="6140600" y="1030014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56E6632-20F2-DB15-275D-A9021BC5DE01}"/>
              </a:ext>
            </a:extLst>
          </p:cNvPr>
          <p:cNvSpPr txBox="1"/>
          <p:nvPr/>
        </p:nvSpPr>
        <p:spPr>
          <a:xfrm>
            <a:off x="6926316" y="430924"/>
            <a:ext cx="476416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角度正确！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可以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向前移动探头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啦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88CBC6-1EE4-603A-ED14-63EC1354EB7C}"/>
              </a:ext>
            </a:extLst>
          </p:cNvPr>
          <p:cNvSpPr/>
          <p:nvPr/>
        </p:nvSpPr>
        <p:spPr>
          <a:xfrm>
            <a:off x="214226" y="2881228"/>
            <a:ext cx="1240219" cy="4502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740B88F-0509-866E-CD81-46CF8ACE799D}"/>
              </a:ext>
            </a:extLst>
          </p:cNvPr>
          <p:cNvCxnSpPr>
            <a:cxnSpLocks/>
          </p:cNvCxnSpPr>
          <p:nvPr/>
        </p:nvCxnSpPr>
        <p:spPr>
          <a:xfrm>
            <a:off x="834335" y="3331518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F375374-AF6B-C0ED-A01D-16E64E180D1F}"/>
              </a:ext>
            </a:extLst>
          </p:cNvPr>
          <p:cNvSpPr txBox="1"/>
          <p:nvPr/>
        </p:nvSpPr>
        <p:spPr>
          <a:xfrm>
            <a:off x="78824" y="3880445"/>
            <a:ext cx="117190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改成：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将探头以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13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度偏角向前移动，注意观察波形变化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E351F3-C15E-126F-BA17-B0FB1E97EF73}"/>
              </a:ext>
            </a:extLst>
          </p:cNvPr>
          <p:cNvSpPr/>
          <p:nvPr/>
        </p:nvSpPr>
        <p:spPr>
          <a:xfrm>
            <a:off x="5139558" y="2942894"/>
            <a:ext cx="1001041" cy="273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99B2D63-19F3-396A-E277-F4DC3308FBAE}"/>
              </a:ext>
            </a:extLst>
          </p:cNvPr>
          <p:cNvSpPr txBox="1"/>
          <p:nvPr/>
        </p:nvSpPr>
        <p:spPr>
          <a:xfrm>
            <a:off x="6800193" y="2786765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2: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移动探测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47AC0C8-8EDE-98EB-4913-E2E1F02EE999}"/>
              </a:ext>
            </a:extLst>
          </p:cNvPr>
          <p:cNvCxnSpPr>
            <a:cxnSpLocks/>
          </p:cNvCxnSpPr>
          <p:nvPr/>
        </p:nvCxnSpPr>
        <p:spPr>
          <a:xfrm>
            <a:off x="6140600" y="3074276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056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B72C-BDA4-4FEB-5ACC-8F7258283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18C65A-ED65-393E-B859-F4D2A3D0C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0" y="46561"/>
            <a:ext cx="6039917" cy="3430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7E37063-BD42-0370-B0FE-277294ADD87C}"/>
              </a:ext>
            </a:extLst>
          </p:cNvPr>
          <p:cNvSpPr/>
          <p:nvPr/>
        </p:nvSpPr>
        <p:spPr>
          <a:xfrm>
            <a:off x="5171142" y="550230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8302D71-36A8-CA94-46F6-95510C802249}"/>
              </a:ext>
            </a:extLst>
          </p:cNvPr>
          <p:cNvCxnSpPr>
            <a:cxnSpLocks/>
          </p:cNvCxnSpPr>
          <p:nvPr/>
        </p:nvCxnSpPr>
        <p:spPr>
          <a:xfrm>
            <a:off x="6085490" y="1138809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98837AB-CC90-4ED4-77E3-FC36BE075F28}"/>
              </a:ext>
            </a:extLst>
          </p:cNvPr>
          <p:cNvSpPr txBox="1"/>
          <p:nvPr/>
        </p:nvSpPr>
        <p:spPr>
          <a:xfrm>
            <a:off x="6926316" y="430924"/>
            <a:ext cx="47641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很棒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，在轨头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侧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面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也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探测到了伤损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！用多功能尺测量确认一下出波位置吧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36D5C0-65FA-C6EA-6415-DD2DD95C4F14}"/>
              </a:ext>
            </a:extLst>
          </p:cNvPr>
          <p:cNvSpPr/>
          <p:nvPr/>
        </p:nvSpPr>
        <p:spPr>
          <a:xfrm>
            <a:off x="237976" y="2881228"/>
            <a:ext cx="1240219" cy="4502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7076550B-0759-2015-93CF-1B28593E335B}"/>
              </a:ext>
            </a:extLst>
          </p:cNvPr>
          <p:cNvCxnSpPr>
            <a:cxnSpLocks/>
          </p:cNvCxnSpPr>
          <p:nvPr/>
        </p:nvCxnSpPr>
        <p:spPr>
          <a:xfrm>
            <a:off x="834335" y="3331518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1B9A9E5-FD19-8DE5-79B0-D210DE5DA3D7}"/>
              </a:ext>
            </a:extLst>
          </p:cNvPr>
          <p:cNvSpPr txBox="1"/>
          <p:nvPr/>
        </p:nvSpPr>
        <p:spPr>
          <a:xfrm>
            <a:off x="78824" y="3880445"/>
            <a:ext cx="117190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改成：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将定位尺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刻度对准探头入射点，进行测量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9188536-B787-8773-80B5-F7908EAFB809}"/>
              </a:ext>
            </a:extLst>
          </p:cNvPr>
          <p:cNvSpPr/>
          <p:nvPr/>
        </p:nvSpPr>
        <p:spPr>
          <a:xfrm>
            <a:off x="5139558" y="2942894"/>
            <a:ext cx="1001041" cy="273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D3C7F93-F85F-0837-DC14-23FA660FCA94}"/>
              </a:ext>
            </a:extLst>
          </p:cNvPr>
          <p:cNvSpPr txBox="1"/>
          <p:nvPr/>
        </p:nvSpPr>
        <p:spPr>
          <a:xfrm>
            <a:off x="6800193" y="2786765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3: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测距确认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CDB5AC3-0906-4BA4-8959-F8C23D564E09}"/>
              </a:ext>
            </a:extLst>
          </p:cNvPr>
          <p:cNvCxnSpPr>
            <a:cxnSpLocks/>
          </p:cNvCxnSpPr>
          <p:nvPr/>
        </p:nvCxnSpPr>
        <p:spPr>
          <a:xfrm>
            <a:off x="6140600" y="3074276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D28F61-3323-3DA8-E7FF-7EB605B1BDE5}"/>
              </a:ext>
            </a:extLst>
          </p:cNvPr>
          <p:cNvSpPr txBox="1"/>
          <p:nvPr/>
        </p:nvSpPr>
        <p:spPr>
          <a:xfrm>
            <a:off x="87720" y="4569609"/>
            <a:ext cx="1069953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【4】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测量完成后，再增加一个数字人气泡：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探头入射点距离本侧焊缝熔合线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120mm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，这说明我们在轨头侧面也探测到了伤损！点击透视视图看看超声波传播路径</a:t>
            </a:r>
          </a:p>
        </p:txBody>
      </p:sp>
    </p:spTree>
    <p:extLst>
      <p:ext uri="{BB962C8B-B14F-4D97-AF65-F5344CB8AC3E}">
        <p14:creationId xmlns:p14="http://schemas.microsoft.com/office/powerpoint/2010/main" val="942159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C9B5-D8B5-B23B-647A-1FCD3BF8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26301FB-99E7-4F35-27CD-A29FD26CE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" y="67182"/>
            <a:ext cx="6315736" cy="3538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597366E-0531-2D6B-B5CB-39CEA34E7B4A}"/>
              </a:ext>
            </a:extLst>
          </p:cNvPr>
          <p:cNvSpPr/>
          <p:nvPr/>
        </p:nvSpPr>
        <p:spPr>
          <a:xfrm>
            <a:off x="5456150" y="573980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D9DBA11-DB9E-70B9-6560-D8A57143C359}"/>
              </a:ext>
            </a:extLst>
          </p:cNvPr>
          <p:cNvCxnSpPr>
            <a:cxnSpLocks/>
          </p:cNvCxnSpPr>
          <p:nvPr/>
        </p:nvCxnSpPr>
        <p:spPr>
          <a:xfrm>
            <a:off x="6370497" y="1138809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E76486A-3F69-8C68-AF6F-B04671E1BF9D}"/>
              </a:ext>
            </a:extLst>
          </p:cNvPr>
          <p:cNvSpPr txBox="1"/>
          <p:nvPr/>
        </p:nvSpPr>
        <p:spPr>
          <a:xfrm>
            <a:off x="6926316" y="430924"/>
            <a:ext cx="47641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轨头侧面伤损探测完成，点击进入轨腰部位探测吧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F91B19-ACAB-E6AC-7970-E431816D0CCB}"/>
              </a:ext>
            </a:extLst>
          </p:cNvPr>
          <p:cNvSpPr/>
          <p:nvPr/>
        </p:nvSpPr>
        <p:spPr>
          <a:xfrm>
            <a:off x="237976" y="3057054"/>
            <a:ext cx="1240219" cy="2744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79B7A115-F0C0-D351-3A93-82C47CC4C2A6}"/>
              </a:ext>
            </a:extLst>
          </p:cNvPr>
          <p:cNvCxnSpPr>
            <a:cxnSpLocks/>
          </p:cNvCxnSpPr>
          <p:nvPr/>
        </p:nvCxnSpPr>
        <p:spPr>
          <a:xfrm>
            <a:off x="834335" y="3331518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15ECFD9-DED6-D2B6-A8B3-65B293E8D399}"/>
              </a:ext>
            </a:extLst>
          </p:cNvPr>
          <p:cNvSpPr txBox="1"/>
          <p:nvPr/>
        </p:nvSpPr>
        <p:spPr>
          <a:xfrm>
            <a:off x="78824" y="3880445"/>
            <a:ext cx="117190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1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字体可以加粗，稍明显些，字号不用太大，颜色可以再深一些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C90D75-C9E9-C88A-E624-DF08386F155E}"/>
              </a:ext>
            </a:extLst>
          </p:cNvPr>
          <p:cNvSpPr/>
          <p:nvPr/>
        </p:nvSpPr>
        <p:spPr>
          <a:xfrm>
            <a:off x="5272649" y="3057054"/>
            <a:ext cx="989323" cy="2969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1E4E249-9EC6-5E07-E97A-A050C0933F86}"/>
              </a:ext>
            </a:extLst>
          </p:cNvPr>
          <p:cNvCxnSpPr>
            <a:cxnSpLocks/>
          </p:cNvCxnSpPr>
          <p:nvPr/>
        </p:nvCxnSpPr>
        <p:spPr>
          <a:xfrm>
            <a:off x="6261972" y="3215011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BA181AB-A71B-68AB-9A58-F4656F7C5088}"/>
              </a:ext>
            </a:extLst>
          </p:cNvPr>
          <p:cNvSpPr txBox="1"/>
          <p:nvPr/>
        </p:nvSpPr>
        <p:spPr>
          <a:xfrm>
            <a:off x="6700293" y="2912217"/>
            <a:ext cx="43578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进入轨腰部位探测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85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CE18-2C99-26CC-4302-7A2AA789E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BAAE75B-9512-CDBC-A2B6-E08111151A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1"/>
          <a:stretch>
            <a:fillRect/>
          </a:stretch>
        </p:blipFill>
        <p:spPr>
          <a:xfrm>
            <a:off x="103695" y="77296"/>
            <a:ext cx="6197425" cy="3538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8674981-5F34-E36A-5434-6877D62BE880}"/>
              </a:ext>
            </a:extLst>
          </p:cNvPr>
          <p:cNvSpPr/>
          <p:nvPr/>
        </p:nvSpPr>
        <p:spPr>
          <a:xfrm>
            <a:off x="5318096" y="571652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D0C7580A-CB4A-D506-CAD0-DC68C191409F}"/>
              </a:ext>
            </a:extLst>
          </p:cNvPr>
          <p:cNvCxnSpPr/>
          <p:nvPr/>
        </p:nvCxnSpPr>
        <p:spPr>
          <a:xfrm>
            <a:off x="6206316" y="1160231"/>
            <a:ext cx="720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F95F65D-A2BC-4AD6-9176-ED10397AEEC9}"/>
              </a:ext>
            </a:extLst>
          </p:cNvPr>
          <p:cNvSpPr txBox="1"/>
          <p:nvPr/>
        </p:nvSpPr>
        <p:spPr>
          <a:xfrm>
            <a:off x="6926316" y="430924"/>
            <a:ext cx="476416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现在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把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探头放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轨腰最上端进行探测吧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28D7EB-BC4D-E635-3DC7-624C868FCF12}"/>
              </a:ext>
            </a:extLst>
          </p:cNvPr>
          <p:cNvSpPr/>
          <p:nvPr/>
        </p:nvSpPr>
        <p:spPr>
          <a:xfrm>
            <a:off x="249852" y="3035852"/>
            <a:ext cx="1240219" cy="3346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6A1373A1-E107-8A66-55FB-49D616AA27C5}"/>
              </a:ext>
            </a:extLst>
          </p:cNvPr>
          <p:cNvCxnSpPr>
            <a:cxnSpLocks/>
          </p:cNvCxnSpPr>
          <p:nvPr/>
        </p:nvCxnSpPr>
        <p:spPr>
          <a:xfrm>
            <a:off x="844162" y="3370532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48FEB40-034C-C107-312B-6EE4E0074EFB}"/>
              </a:ext>
            </a:extLst>
          </p:cNvPr>
          <p:cNvSpPr txBox="1"/>
          <p:nvPr/>
        </p:nvSpPr>
        <p:spPr>
          <a:xfrm>
            <a:off x="103695" y="3911815"/>
            <a:ext cx="117190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改成：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将探头放在轨腰最上端，利用多功能尺将探头向上偏转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10°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54947A-4482-CD9A-8D8C-AA795CFAA63A}"/>
              </a:ext>
            </a:extLst>
          </p:cNvPr>
          <p:cNvSpPr/>
          <p:nvPr/>
        </p:nvSpPr>
        <p:spPr>
          <a:xfrm>
            <a:off x="4966097" y="3049583"/>
            <a:ext cx="1240219" cy="273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80FEA718-455F-CD8F-8820-AAC3785EEFF8}"/>
              </a:ext>
            </a:extLst>
          </p:cNvPr>
          <p:cNvCxnSpPr/>
          <p:nvPr/>
        </p:nvCxnSpPr>
        <p:spPr>
          <a:xfrm>
            <a:off x="6206316" y="3192087"/>
            <a:ext cx="720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58BD932-D258-F629-3586-DE6FB26A082E}"/>
              </a:ext>
            </a:extLst>
          </p:cNvPr>
          <p:cNvSpPr txBox="1"/>
          <p:nvPr/>
        </p:nvSpPr>
        <p:spPr>
          <a:xfrm>
            <a:off x="6849067" y="2894081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1: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</a:t>
            </a:r>
          </a:p>
        </p:txBody>
      </p:sp>
    </p:spTree>
    <p:extLst>
      <p:ext uri="{BB962C8B-B14F-4D97-AF65-F5344CB8AC3E}">
        <p14:creationId xmlns:p14="http://schemas.microsoft.com/office/powerpoint/2010/main" val="135986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FE7B-069B-0266-FBEE-7A49E9F9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8A64EA-504E-1F88-606E-D4138CC39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5" y="77296"/>
            <a:ext cx="6251509" cy="3538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9965B28-3E69-3E4E-7E47-688771E389D0}"/>
              </a:ext>
            </a:extLst>
          </p:cNvPr>
          <p:cNvSpPr/>
          <p:nvPr/>
        </p:nvSpPr>
        <p:spPr>
          <a:xfrm>
            <a:off x="5387351" y="571651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D36FA85E-3737-6C9A-CA0D-4C35DDB46E3B}"/>
              </a:ext>
            </a:extLst>
          </p:cNvPr>
          <p:cNvCxnSpPr/>
          <p:nvPr/>
        </p:nvCxnSpPr>
        <p:spPr>
          <a:xfrm>
            <a:off x="6277566" y="1160231"/>
            <a:ext cx="720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443F5D3-7FFC-E05F-801D-A53B1A231C47}"/>
              </a:ext>
            </a:extLst>
          </p:cNvPr>
          <p:cNvSpPr txBox="1"/>
          <p:nvPr/>
        </p:nvSpPr>
        <p:spPr>
          <a:xfrm>
            <a:off x="6926316" y="430924"/>
            <a:ext cx="476416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角度正确！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可以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向前移动探头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啦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FB355B-CC3A-6207-124F-4BF96DE27935}"/>
              </a:ext>
            </a:extLst>
          </p:cNvPr>
          <p:cNvSpPr/>
          <p:nvPr/>
        </p:nvSpPr>
        <p:spPr>
          <a:xfrm>
            <a:off x="249852" y="3035852"/>
            <a:ext cx="1388943" cy="3346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5855436-0534-D7F7-06A2-2FB28950F159}"/>
              </a:ext>
            </a:extLst>
          </p:cNvPr>
          <p:cNvCxnSpPr>
            <a:cxnSpLocks/>
          </p:cNvCxnSpPr>
          <p:nvPr/>
        </p:nvCxnSpPr>
        <p:spPr>
          <a:xfrm>
            <a:off x="943002" y="3370532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9311D3D9-6C2E-C64F-B71E-809A3978C247}"/>
              </a:ext>
            </a:extLst>
          </p:cNvPr>
          <p:cNvSpPr/>
          <p:nvPr/>
        </p:nvSpPr>
        <p:spPr>
          <a:xfrm>
            <a:off x="4966097" y="3049583"/>
            <a:ext cx="1240219" cy="273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320C899E-0545-3236-4A3F-27FC50ED8834}"/>
              </a:ext>
            </a:extLst>
          </p:cNvPr>
          <p:cNvCxnSpPr/>
          <p:nvPr/>
        </p:nvCxnSpPr>
        <p:spPr>
          <a:xfrm>
            <a:off x="6206316" y="3192087"/>
            <a:ext cx="720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07467E7-4008-B721-FD4E-BFFF89D97BDB}"/>
              </a:ext>
            </a:extLst>
          </p:cNvPr>
          <p:cNvSpPr txBox="1"/>
          <p:nvPr/>
        </p:nvSpPr>
        <p:spPr>
          <a:xfrm>
            <a:off x="6788318" y="2909090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2: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移动探测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779511-D34F-7100-DE8D-014F1FF2A3E5}"/>
              </a:ext>
            </a:extLst>
          </p:cNvPr>
          <p:cNvSpPr txBox="1"/>
          <p:nvPr/>
        </p:nvSpPr>
        <p:spPr>
          <a:xfrm>
            <a:off x="78824" y="3880445"/>
            <a:ext cx="117190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改成：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将探头以</a:t>
            </a:r>
            <a:r>
              <a:rPr kumimoji="1" lang="en-US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10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度偏角向前移动，注意观察波形变化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47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141B-0AD6-9482-540C-B567739E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15A886-C997-58C1-9B32-ED0783522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0" y="67182"/>
            <a:ext cx="6271292" cy="3538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BC8D3C1-D350-4DBA-7C32-F4738EFC5D97}"/>
              </a:ext>
            </a:extLst>
          </p:cNvPr>
          <p:cNvSpPr/>
          <p:nvPr/>
        </p:nvSpPr>
        <p:spPr>
          <a:xfrm>
            <a:off x="5432399" y="550229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24022B2-7112-0131-79B4-9B309F47CB51}"/>
              </a:ext>
            </a:extLst>
          </p:cNvPr>
          <p:cNvCxnSpPr>
            <a:cxnSpLocks/>
          </p:cNvCxnSpPr>
          <p:nvPr/>
        </p:nvCxnSpPr>
        <p:spPr>
          <a:xfrm>
            <a:off x="6336289" y="1138809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33AB09-F8A9-0B80-B8C2-041873564B08}"/>
              </a:ext>
            </a:extLst>
          </p:cNvPr>
          <p:cNvSpPr txBox="1"/>
          <p:nvPr/>
        </p:nvSpPr>
        <p:spPr>
          <a:xfrm>
            <a:off x="6926316" y="430924"/>
            <a:ext cx="47641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en-US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轨腰部位也</a:t>
            </a:r>
            <a:r>
              <a:rPr kumimoji="1" lang="zh-CN" altLang="zh-CN" sz="28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探测到伤损了！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用多功能尺确认一下出波位置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AB632D-0615-649D-6A87-605DEBD480B7}"/>
              </a:ext>
            </a:extLst>
          </p:cNvPr>
          <p:cNvSpPr/>
          <p:nvPr/>
        </p:nvSpPr>
        <p:spPr>
          <a:xfrm>
            <a:off x="151738" y="2964546"/>
            <a:ext cx="1365193" cy="4502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D791024-DC1B-6A9E-9794-CC0D7996D34F}"/>
              </a:ext>
            </a:extLst>
          </p:cNvPr>
          <p:cNvCxnSpPr>
            <a:cxnSpLocks/>
          </p:cNvCxnSpPr>
          <p:nvPr/>
        </p:nvCxnSpPr>
        <p:spPr>
          <a:xfrm>
            <a:off x="834334" y="3429000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BBDC6A5-0EEA-B557-EDAD-48D6DEFB6C11}"/>
              </a:ext>
            </a:extLst>
          </p:cNvPr>
          <p:cNvSpPr txBox="1"/>
          <p:nvPr/>
        </p:nvSpPr>
        <p:spPr>
          <a:xfrm>
            <a:off x="78824" y="3880445"/>
            <a:ext cx="117190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改成：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将定位尺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0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刻度对准探头入射点，进行测量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4D8C90F-A1E4-25AF-AACE-1E28916CC4C4}"/>
              </a:ext>
            </a:extLst>
          </p:cNvPr>
          <p:cNvSpPr/>
          <p:nvPr/>
        </p:nvSpPr>
        <p:spPr>
          <a:xfrm>
            <a:off x="5293936" y="3063764"/>
            <a:ext cx="1001041" cy="273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80A3527-536F-98B3-F503-0287E5DF85B8}"/>
              </a:ext>
            </a:extLst>
          </p:cNvPr>
          <p:cNvSpPr txBox="1"/>
          <p:nvPr/>
        </p:nvSpPr>
        <p:spPr>
          <a:xfrm>
            <a:off x="6788218" y="2881228"/>
            <a:ext cx="7932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步骤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3: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测距确认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69755B-282C-9013-0A17-EE065736F3F9}"/>
              </a:ext>
            </a:extLst>
          </p:cNvPr>
          <p:cNvCxnSpPr>
            <a:cxnSpLocks/>
          </p:cNvCxnSpPr>
          <p:nvPr/>
        </p:nvCxnSpPr>
        <p:spPr>
          <a:xfrm>
            <a:off x="6294977" y="3200270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78F954-4DAB-E150-9CBE-3977021A9FEC}"/>
              </a:ext>
            </a:extLst>
          </p:cNvPr>
          <p:cNvSpPr txBox="1"/>
          <p:nvPr/>
        </p:nvSpPr>
        <p:spPr>
          <a:xfrm>
            <a:off x="87720" y="4569609"/>
            <a:ext cx="1069953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【4】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测量完成后，再增加一个数字人气泡：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探头入射点距离本侧焊缝熔合线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40mm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，在轨腰部位也探测到了伤损！点击透视视图看一下超声波传播路径</a:t>
            </a:r>
          </a:p>
        </p:txBody>
      </p:sp>
    </p:spTree>
    <p:extLst>
      <p:ext uri="{BB962C8B-B14F-4D97-AF65-F5344CB8AC3E}">
        <p14:creationId xmlns:p14="http://schemas.microsoft.com/office/powerpoint/2010/main" val="315969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4F74-62B6-9422-9191-7F58E076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42D3F0-2635-315F-DF1C-2D77CF613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5" y="63359"/>
            <a:ext cx="6278155" cy="3538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E248E9B-0BF3-493B-0E12-C366EEA69B44}"/>
              </a:ext>
            </a:extLst>
          </p:cNvPr>
          <p:cNvSpPr/>
          <p:nvPr/>
        </p:nvSpPr>
        <p:spPr>
          <a:xfrm>
            <a:off x="5456150" y="573980"/>
            <a:ext cx="903890" cy="11771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722CD14-BFD4-BBFB-6CE8-7275306DF2A8}"/>
              </a:ext>
            </a:extLst>
          </p:cNvPr>
          <p:cNvCxnSpPr>
            <a:cxnSpLocks/>
          </p:cNvCxnSpPr>
          <p:nvPr/>
        </p:nvCxnSpPr>
        <p:spPr>
          <a:xfrm>
            <a:off x="6370497" y="1138809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1D3CCE2-9263-8A5F-E443-84BC1CA8ED67}"/>
              </a:ext>
            </a:extLst>
          </p:cNvPr>
          <p:cNvSpPr txBox="1"/>
          <p:nvPr/>
        </p:nvSpPr>
        <p:spPr>
          <a:xfrm>
            <a:off x="6926316" y="430924"/>
            <a:ext cx="47641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【1】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增加数字人气泡，气泡内容：</a:t>
            </a:r>
            <a:r>
              <a:rPr kumimoji="1" lang="zh-CN" altLang="en-US" sz="30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三方位全部</a:t>
            </a:r>
            <a:r>
              <a:rPr kumimoji="1" lang="zh-CN" altLang="zh-CN" sz="3000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探测完成啦！但还有最后一步工作哦</a:t>
            </a:r>
            <a:endParaRPr kumimoji="1" lang="zh-CN" altLang="en-US" sz="3000" dirty="0">
              <a:solidFill>
                <a:srgbClr val="C0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CD8432-D8CC-9448-CF58-F8CCE4CD33BD}"/>
              </a:ext>
            </a:extLst>
          </p:cNvPr>
          <p:cNvSpPr/>
          <p:nvPr/>
        </p:nvSpPr>
        <p:spPr>
          <a:xfrm>
            <a:off x="237976" y="3057054"/>
            <a:ext cx="1240219" cy="2744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2A50EB3-EC09-207E-0D9A-0ECBD947A517}"/>
              </a:ext>
            </a:extLst>
          </p:cNvPr>
          <p:cNvCxnSpPr>
            <a:cxnSpLocks/>
          </p:cNvCxnSpPr>
          <p:nvPr/>
        </p:nvCxnSpPr>
        <p:spPr>
          <a:xfrm>
            <a:off x="834335" y="3331518"/>
            <a:ext cx="0" cy="54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E8216B2-94FE-210E-3A95-AA5BB80D1839}"/>
              </a:ext>
            </a:extLst>
          </p:cNvPr>
          <p:cNvSpPr txBox="1"/>
          <p:nvPr/>
        </p:nvSpPr>
        <p:spPr>
          <a:xfrm>
            <a:off x="78824" y="3880445"/>
            <a:ext cx="1171903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【2】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字体可以加粗，稍明显些，字号不用太大，颜色可以再深一些</a:t>
            </a:r>
            <a:b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</a:b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文字：轨腰部位探测完成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EF3553-0998-ADC6-221D-30FC4AC7560D}"/>
              </a:ext>
            </a:extLst>
          </p:cNvPr>
          <p:cNvSpPr/>
          <p:nvPr/>
        </p:nvSpPr>
        <p:spPr>
          <a:xfrm>
            <a:off x="5272649" y="3057054"/>
            <a:ext cx="989323" cy="2969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8DC2CD9-9684-2369-6D65-00CC8F063D4C}"/>
              </a:ext>
            </a:extLst>
          </p:cNvPr>
          <p:cNvCxnSpPr>
            <a:cxnSpLocks/>
          </p:cNvCxnSpPr>
          <p:nvPr/>
        </p:nvCxnSpPr>
        <p:spPr>
          <a:xfrm>
            <a:off x="6261972" y="3215011"/>
            <a:ext cx="6595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1893B84-ED62-2F4E-0CFB-DED47A7D5F3A}"/>
              </a:ext>
            </a:extLst>
          </p:cNvPr>
          <p:cNvSpPr txBox="1"/>
          <p:nvPr/>
        </p:nvSpPr>
        <p:spPr>
          <a:xfrm>
            <a:off x="6700293" y="2912217"/>
            <a:ext cx="43578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【3】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下一步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1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1159</Words>
  <Application>Microsoft Macintosh PowerPoint</Application>
  <PresentationFormat>宽屏</PresentationFormat>
  <Paragraphs>74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8</cp:revision>
  <dcterms:created xsi:type="dcterms:W3CDTF">2026-08-18T12:17:17Z</dcterms:created>
  <dcterms:modified xsi:type="dcterms:W3CDTF">2026-08-20T23:40:56Z</dcterms:modified>
</cp:coreProperties>
</file>